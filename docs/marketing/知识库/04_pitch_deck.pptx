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572000" cy="4572000"/>
          </a:xfrm>
          <a:prstGeom prst="ellipse">
            <a:avLst/>
          </a:prstGeom>
          <a:solidFill>
            <a:srgbClr val="C9A227">
              <a:alpha val="15000"/>
            </a:srgbClr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3657600"/>
            <a:ext cx="2743200" cy="2743200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知源 · ZHIYUAN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097280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116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企业知识大脑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私有化 · 多模态 · 国产化 · 可审计的 AI 原生知识基础设施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5303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投资人路演 · Pitch Deck v1.1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年 4 月 · 修订 04-26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本文档含前瞻性陈述 · 仅供受托评估 · 未经授权不得外传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一句话定义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企业知识，从此 “一问即答”。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把分散在文档、合同、图纸、会议纪要里的沉默知识，变成可私有化部署、带原文引用、带权限审计的问答系统。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5303520"/>
            <a:ext cx="347472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3035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 分钟私有化上线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0" y="5303520"/>
            <a:ext cx="347472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53035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答案带原文 + 置信度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0" y="5303520"/>
            <a:ext cx="347472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53035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三层权限 + 全量审计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知源 · ZHIYUAN · 投资人路演 v1.1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10972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· 市场窗口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重塑企业知识管理的三年窗口期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383280" cy="3200400"/>
          </a:xfrm>
          <a:prstGeom prst="rect">
            <a:avLst/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011680"/>
            <a:ext cx="73152" cy="32004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2860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72%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企业知识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43434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沉淀在文档、邮件、IM 里，从未被检索过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2011680"/>
            <a:ext cx="3383280" cy="3200400"/>
          </a:xfrm>
          <a:prstGeom prst="rect">
            <a:avLst/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2011680"/>
            <a:ext cx="73152" cy="32004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2860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19%</a:t>
            </a:r>
            <a:endParaRPr lang="en-US" sz="8000" dirty="0"/>
          </a:p>
        </p:txBody>
      </p:sp>
      <p:sp>
        <p:nvSpPr>
          <p:cNvPr id="13" name="Text 11"/>
          <p:cNvSpPr/>
          <p:nvPr/>
        </p:nvSpPr>
        <p:spPr>
          <a:xfrm>
            <a:off x="4663440" y="3840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员工工时损失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63440" y="43434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Gartner 估算：因重复劳动找已有知识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321040" y="2011680"/>
            <a:ext cx="3383280" cy="3200400"/>
          </a:xfrm>
          <a:prstGeom prst="rect">
            <a:avLst/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2011680"/>
            <a:ext cx="73152" cy="32004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0" y="22860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年</a:t>
            </a:r>
            <a:endParaRPr lang="en-US" sz="8000" dirty="0"/>
          </a:p>
        </p:txBody>
      </p:sp>
      <p:sp>
        <p:nvSpPr>
          <p:cNvPr id="18" name="Text 16"/>
          <p:cNvSpPr/>
          <p:nvPr/>
        </p:nvSpPr>
        <p:spPr>
          <a:xfrm>
            <a:off x="8595360" y="3840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黄金窗口期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595360" y="43434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私有化 + 国产化 AI 落地的刚需期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56692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结论：AI 原生 + 私有化 + 国产化 = 未来三年中国企业知识市场最确定的交集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知源 · ZHIYUAN · 投资人路演 v1.1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/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10972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· 竞争格局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五维同时满足的产品，目前仅一家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47120" cy="3108960"/>
        </p:xfrm>
        <a:graphic>
          <a:graphicData uri="http://schemas.openxmlformats.org/drawingml/2006/table">
            <a:tbl>
              <a:tblPr/>
              <a:tblGrid>
                <a:gridCol w="2103120"/>
                <a:gridCol w="1554480"/>
                <a:gridCol w="1463040"/>
                <a:gridCol w="1371600"/>
                <a:gridCol w="1554480"/>
                <a:gridCol w="1554480"/>
                <a:gridCol w="1645920"/>
              </a:tblGrid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产品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形态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数据主权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国产化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多模态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知识图谱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MCP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C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Confluence Wiki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SaaS / 私有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部分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否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否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否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否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Glean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SaaS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否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否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有限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有限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否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Notion AI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SaaS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否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否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有限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否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否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飞书知识问答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SaaS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否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是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有限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否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否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1B3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知源 ZhiYuan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私有化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1B3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完全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1B3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原生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1B3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完整（VLM）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1B3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AGE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1B3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原生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303520"/>
            <a:ext cx="11247120" cy="822960"/>
          </a:xfrm>
          <a:prstGeom prst="rect">
            <a:avLst/>
          </a:prstGeom>
          <a:solidFill>
            <a:srgbClr val="0F1B3C"/>
          </a:solidFill>
          <a:ln w="12700">
            <a:solidFill>
              <a:srgbClr val="0F1B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53035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护城河：私有化 × 国产化 × 多模态 × 图谱 × MCP 协议——五个维度同时覆盖，目前市场独家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知源 · ZHIYUAN · 投资人路演 v1.1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10972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· 差异化能力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八大差异化 · 构筑技术与合规双护城河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6974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965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数据主权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五容器私有栈，数据零外传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737360"/>
            <a:ext cx="26974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20440" y="1965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520440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国产大模型原生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20440" y="30632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Qwen / DeepSeek / 硅基 / Claude / OpenAI 五选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737360"/>
            <a:ext cx="26974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1965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00800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多模态问答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30632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扫描件、图表、图纸全部可问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98280" y="1737360"/>
            <a:ext cx="26974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81160" y="1965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281160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知识图谱自生长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281160" y="30632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Apache AGE 记录引用关系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069080"/>
            <a:ext cx="26974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42976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40080" y="4846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一次接入存量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0080" y="53949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SMB/S3/WebDAV/SFTP 适配器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37560" y="4069080"/>
            <a:ext cx="26974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520440" y="42976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520440" y="4846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 开放协议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520440" y="53949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Cursor/Claude Desktop 即插即用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0" y="4069080"/>
            <a:ext cx="26974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0" y="42976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400800" y="4846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工程执行力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400800" y="53949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32 ADR + 21 冻结 Spec + 四阶段工作流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098280" y="4069080"/>
            <a:ext cx="2697480" cy="2148840"/>
          </a:xfrm>
          <a:prstGeom prst="rect">
            <a:avLst/>
          </a:prstGeom>
          <a:solidFill>
            <a:srgbClr val="C9A22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281160" y="42976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9281160" y="4846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长期记忆 + L0/L1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281160" y="53949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L0 分级粗筛召回 +2.7pp（ADR-32）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知源 · ZHIYUAN · 投资人路演 v1.1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· 技术架构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四层架构 · 全面容器化 · 可插拔 · 可降级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365760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373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 控制台 · React 19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51960" y="1737360"/>
            <a:ext cx="365760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51960" y="17373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 Service · 开放协议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046720" y="1737360"/>
            <a:ext cx="365760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0" y="17373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外部 Agent / IDE / 第三方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80760" y="2514600"/>
            <a:ext cx="0" cy="27432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57200" y="2880360"/>
            <a:ext cx="11247120" cy="1188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QA Service · Node 22 + Express 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3383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统一鉴权 · Agent 编排 · Agentic RAG 八层管线（含 L0 粗筛）· Ingest 统一入口 · Governance · 审计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7033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个 Agent：知识问答 / 数据治理 / 结构化查询 / 元数据运维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4114800"/>
            <a:ext cx="0" cy="27432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200" y="4480560"/>
            <a:ext cx="21031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526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BookStack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983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Wiki UI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97480" y="4480560"/>
            <a:ext cx="21031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97480" y="4526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MySQL 8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697480" y="4983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权限·治理·审计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4480560"/>
            <a:ext cx="21031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4526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pgvector pg16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37760" y="4983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向量真相源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178040" y="4480560"/>
            <a:ext cx="21031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78040" y="4526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Apache AGE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78040" y="4983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知识图谱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418320" y="4480560"/>
            <a:ext cx="2103120" cy="10058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18320" y="4526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国产 LLM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418320" y="4983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Qwen / DeepSeek / 硅基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降级能力：Java / VLM / Reranker / AGE / SMB / 调度 / 鉴权 全部可独立降级，主流程不阻塞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知源 · ZHIYUAN · 投资人路演 v1.1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 /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10972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· 核心技术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Agentic RAG 八层推理管线（含 L0 粗筛）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97480" cy="1828800"/>
          </a:xfrm>
          <a:prstGeom prst="rect">
            <a:avLst/>
          </a:prstGeom>
          <a:solidFill>
            <a:srgbClr val="F5F7FB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011680"/>
            <a:ext cx="548640" cy="5486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2011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L0 粗筛 + 自适应检索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L0 摘要 ANN 收窄 + pgvector/BM25 混合，ADR-32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1828800"/>
            <a:ext cx="2697480" cy="1828800"/>
          </a:xfrm>
          <a:prstGeom prst="rect">
            <a:avLst/>
          </a:prstGeom>
          <a:solidFill>
            <a:srgbClr val="F5F7FB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2011680"/>
            <a:ext cx="548640" cy="5486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251960" y="2011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Cross-encoder 重排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20440" y="27432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精准排序，失败降级到纯向量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828800"/>
            <a:ext cx="2697480" cy="1828800"/>
          </a:xfrm>
          <a:prstGeom prst="rect">
            <a:avLst/>
          </a:prstGeom>
          <a:solidFill>
            <a:srgbClr val="F5F7FB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2011680"/>
            <a:ext cx="548640" cy="5486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132320" y="2011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 评分过滤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27432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function-call 结构化打分，保底 Top 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98280" y="1828800"/>
            <a:ext cx="2697480" cy="1828800"/>
          </a:xfrm>
          <a:prstGeom prst="rect">
            <a:avLst/>
          </a:prstGeom>
          <a:solidFill>
            <a:srgbClr val="F5F7FB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81160" y="2011680"/>
            <a:ext cx="548640" cy="5486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012680" y="2011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问题自动改写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281160" y="27432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召回不足时自动重写再召回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840480"/>
            <a:ext cx="2697480" cy="1828800"/>
          </a:xfrm>
          <a:prstGeom prst="rect">
            <a:avLst/>
          </a:prstGeom>
          <a:solidFill>
            <a:srgbClr val="F5F7FB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4023360"/>
            <a:ext cx="548640" cy="5486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371600" y="40233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流式生成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0080" y="4754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多轮对话 + 原文引用 + 置信度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337560" y="3840480"/>
            <a:ext cx="2697480" cy="1828800"/>
          </a:xfrm>
          <a:prstGeom prst="rect">
            <a:avLst/>
          </a:prstGeom>
          <a:solidFill>
            <a:srgbClr val="F5F7FB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20440" y="4023360"/>
            <a:ext cx="548640" cy="5486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2044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251960" y="40233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Short-circuit 兜底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520440" y="4754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低相关不喂 LLM，防止毒化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17920" y="3840480"/>
            <a:ext cx="2697480" cy="1828800"/>
          </a:xfrm>
          <a:prstGeom prst="rect">
            <a:avLst/>
          </a:prstGeom>
          <a:solidFill>
            <a:srgbClr val="F5F7FB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0" y="4023360"/>
            <a:ext cx="548640" cy="5486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7132320" y="40233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引用图谱写入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00800" y="4754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fire-and-forget 写 AGE，不阻塞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961120" y="3840480"/>
            <a:ext cx="2697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8961120" y="3840480"/>
            <a:ext cx="2697480" cy="1828800"/>
          </a:xfrm>
          <a:prstGeom prst="rect">
            <a:avLst/>
          </a:prstGeom>
          <a:solidFill>
            <a:srgbClr val="0F1B3C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961120" y="39319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八层兜底 · 召回 +2.7pp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8961120" y="4572000"/>
            <a:ext cx="2697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每层独立降级；GM-LIFTGATE32 实测 recall@5 0.973 → 1.000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知源 · ZHIYUAN · 投资人路演 v1.1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 /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10972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· 交付进度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产品已就绪 · 进入规模化交付阶段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97480" cy="1645920"/>
          </a:xfrm>
          <a:prstGeom prst="rect">
            <a:avLst/>
          </a:prstGeom>
          <a:solidFill>
            <a:srgbClr val="0F1B3C"/>
          </a:solidFill>
          <a:ln w="12700">
            <a:solidFill>
              <a:srgbClr val="0F1B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383280"/>
            <a:ext cx="269748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2024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32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ADR 决策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永不覆盖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828800"/>
            <a:ext cx="2697480" cy="1645920"/>
          </a:xfrm>
          <a:prstGeom prst="rect">
            <a:avLst/>
          </a:prstGeom>
          <a:solidFill>
            <a:srgbClr val="0F1B3C"/>
          </a:solidFill>
          <a:ln w="12700">
            <a:solidFill>
              <a:srgbClr val="0F1B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3383280"/>
            <a:ext cx="269748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92024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21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3337560" y="27889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冻结 Spec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37560" y="31089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行为契约锁定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828800"/>
            <a:ext cx="2697480" cy="1645920"/>
          </a:xfrm>
          <a:prstGeom prst="rect">
            <a:avLst/>
          </a:prstGeom>
          <a:solidFill>
            <a:srgbClr val="0F1B3C"/>
          </a:solidFill>
          <a:ln w="12700">
            <a:solidFill>
              <a:srgbClr val="0F1B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3383280"/>
            <a:ext cx="269748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92024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6217920" y="27889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业务模块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17920" y="31089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全部上线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98280" y="1828800"/>
            <a:ext cx="2697480" cy="1645920"/>
          </a:xfrm>
          <a:prstGeom prst="rect">
            <a:avLst/>
          </a:prstGeom>
          <a:solidFill>
            <a:srgbClr val="0F1B3C"/>
          </a:solidFill>
          <a:ln w="12700">
            <a:solidFill>
              <a:srgbClr val="0F1B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98280" y="3383280"/>
            <a:ext cx="269748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98280" y="192024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30′</a:t>
            </a:r>
            <a:endParaRPr lang="en-US" sz="5600" dirty="0"/>
          </a:p>
        </p:txBody>
      </p:sp>
      <p:sp>
        <p:nvSpPr>
          <p:cNvPr id="23" name="Text 21"/>
          <p:cNvSpPr/>
          <p:nvPr/>
        </p:nvSpPr>
        <p:spPr>
          <a:xfrm>
            <a:off x="9098280" y="27889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私有化上线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098280" y="31089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Docker 一键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749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已交付能力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5720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Agentic RAG 八层管线 (含 L0)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1792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Permissions V2（三主体 × TTL）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4526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PDF v2 + VLM 多模态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17920" y="4526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Knowledge Graph (AGE)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4892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统一 Ingest（6 格式 + 图片）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217920" y="4892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Agent 长期记忆 (OpenViking · ADR-31)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5257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MCP Service 双通道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217920" y="5257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L0/L1 分级摘要 (ADR-32)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" y="57607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TypeScript 严格模式通过 · qa-service 单测 207 / 209 · 新增 change 0 fail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知源 · ZHIYUAN · 投资人路演 v1.1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 /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10972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 · 目标市场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首波切入强监管 + 国产化刚需行业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P0 · 优先行业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2697480" cy="1737360"/>
          </a:xfrm>
          <a:prstGeom prst="rect">
            <a:avLst/>
          </a:prstGeom>
          <a:solidFill>
            <a:srgbClr val="0F1B3C"/>
          </a:solidFill>
          <a:ln w="12700">
            <a:solidFill>
              <a:srgbClr val="0F1B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金融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银行 / 保险 / 券商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强监管 · 数据不出域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2286000"/>
            <a:ext cx="2697480" cy="1737360"/>
          </a:xfrm>
          <a:prstGeom prst="rect">
            <a:avLst/>
          </a:prstGeom>
          <a:solidFill>
            <a:srgbClr val="0F1B3C"/>
          </a:solidFill>
          <a:ln w="12700">
            <a:solidFill>
              <a:srgbClr val="0F1B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央国企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2044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能源 / 交通 / 电信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国产化 · 本地化采购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2286000"/>
            <a:ext cx="2697480" cy="1737360"/>
          </a:xfrm>
          <a:prstGeom prst="rect">
            <a:avLst/>
          </a:prstGeom>
          <a:solidFill>
            <a:srgbClr val="0F1B3C"/>
          </a:solidFill>
          <a:ln w="12700">
            <a:solidFill>
              <a:srgbClr val="0F1B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政府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档案 / 法院 / 税务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数据主权 · 合规审计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98280" y="2286000"/>
            <a:ext cx="2697480" cy="1737360"/>
          </a:xfrm>
          <a:prstGeom prst="rect">
            <a:avLst/>
          </a:prstGeom>
          <a:solidFill>
            <a:srgbClr val="0F1B3C"/>
          </a:solidFill>
          <a:ln w="12700">
            <a:solidFill>
              <a:srgbClr val="0F1B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医疗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28116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医院 / 药企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28116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临床指南 · 多模态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297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P1 · 扩展行业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4754880"/>
            <a:ext cx="3657600" cy="1371600"/>
          </a:xfrm>
          <a:prstGeom prst="rect">
            <a:avLst/>
          </a:prstGeom>
          <a:solidFill>
            <a:srgbClr val="F5F7FB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846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制造业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0080" y="53492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设备手册 + 工单 + 图纸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297680" y="4754880"/>
            <a:ext cx="3657600" cy="1371600"/>
          </a:xfrm>
          <a:prstGeom prst="rect">
            <a:avLst/>
          </a:prstGeom>
          <a:solidFill>
            <a:srgbClr val="F5F7FB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0" y="4846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法律 / 咨询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480560" y="53492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合同 + 判例 + 专家网络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138160" y="4754880"/>
            <a:ext cx="3657600" cy="1371600"/>
          </a:xfrm>
          <a:prstGeom prst="rect">
            <a:avLst/>
          </a:prstGeom>
          <a:solidFill>
            <a:srgbClr val="F5F7FB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4846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研发密集型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321040" y="53492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内部研报 + 专利 + 实验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知源 · ZHIYUAN · 投资人路演 v1.1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 /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10972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 · 商业模式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三条收入线 · 私有化为主 · SaaS 漏斗 · 行业解决方案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657600" cy="3474720"/>
          </a:xfrm>
          <a:prstGeom prst="rect">
            <a:avLst/>
          </a:prstGeom>
          <a:solidFill>
            <a:srgbClr val="0F1B3C"/>
          </a:solidFill>
          <a:ln w="12700">
            <a:solidFill>
              <a:srgbClr val="0F1B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主收入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 · 私有化授权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年单 80万~500万 RMB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61188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金融、央国企、政府按企业一次性授权 + 年度维护订阅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1828800"/>
            <a:ext cx="3657600" cy="3474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920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漏斗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80560" y="23317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 · SaaS 订阅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80560" y="3017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99 元 / 坐席 / 月起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80560" y="361188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中小客户多租户版本，验证后迁移私有化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3657600" cy="3474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920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定制化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21040" y="23317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 · 行业解决方案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21040" y="3017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100万~300万 RMB / 项目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21040" y="361188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头部客户深度定制，沉淀行业知识图谱与合规模板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486400"/>
            <a:ext cx="11247120" cy="822960"/>
          </a:xfrm>
          <a:prstGeom prst="rect">
            <a:avLst/>
          </a:prstGeom>
          <a:solidFill>
            <a:srgbClr val="F5F7FB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54864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单位经济：ACV 150 万 · CAC 30 万 · 5 年 LTV 600 万 · LTV/CAC = 20× · 毛利 75%+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知源 · ZHIYUAN · 投资人路演 v1.1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/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10972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· Go-to-Market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三路并进 · 生态 + 集成商 + 标杆客户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471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28800"/>
            <a:ext cx="73152" cy="12801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463040" y="1965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生态驱动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63040" y="2423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 协议新入口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201168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借 Agent 工具链崛起红利，把知源作为 Cursor / Claude Desktop 的企业级记忆体。开发者试用 → 带回公司 → 撬动企业采购。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789920" y="2103120"/>
            <a:ext cx="822960" cy="640080"/>
          </a:xfrm>
          <a:prstGeom prst="rect">
            <a:avLst/>
          </a:prstGeom>
          <a:solidFill>
            <a:srgbClr val="0F1B3C"/>
          </a:solidFill>
          <a:ln w="12700">
            <a:solidFill>
              <a:srgbClr val="0F1B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0" y="21031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开发者漏斗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112471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91840"/>
            <a:ext cx="73152" cy="12801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463040" y="3429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集成商渠道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63040" y="3886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合规云 ISV 联合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347472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与华为云 / 阿里云 / 浪潮 / 用友联合方案，以“国产化 AI 知识管理”进政府、央企、金融招标目录。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789920" y="3566160"/>
            <a:ext cx="822960" cy="640080"/>
          </a:xfrm>
          <a:prstGeom prst="rect">
            <a:avLst/>
          </a:prstGeom>
          <a:solidFill>
            <a:srgbClr val="0F1B3C"/>
          </a:solidFill>
          <a:ln w="12700">
            <a:solidFill>
              <a:srgbClr val="0F1B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89920" y="35661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渠道杠杆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754880"/>
            <a:ext cx="73152" cy="12801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983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463040" y="4892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行业标杆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463040" y="5349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口碑裂变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0" y="493776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每个优先行业拿下 1~2 个标杆客户（某股份制银行、某头部律所）。产出行业白皮书，沉淀解决方案。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789920" y="5029200"/>
            <a:ext cx="822960" cy="640080"/>
          </a:xfrm>
          <a:prstGeom prst="rect">
            <a:avLst/>
          </a:prstGeom>
          <a:solidFill>
            <a:srgbClr val="0F1B3C"/>
          </a:solidFill>
          <a:ln w="12700">
            <a:solidFill>
              <a:srgbClr val="0F1B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789920" y="50292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直销铁军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知源 · ZHIYUAN · 投资人路演 v1.1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10972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 · 三年里程碑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从标杆客户到行业 Top 3 品牌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011680" y="1920240"/>
            <a:ext cx="548640" cy="5486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3657600" cy="3291840"/>
          </a:xfrm>
          <a:prstGeom prst="rect">
            <a:avLst/>
          </a:prstGeom>
          <a:solidFill>
            <a:srgbClr val="F5F7FB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43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奠基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500万 ~ 1000万 RMB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ARR 目标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429768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3~5 家标杆客户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金融 + 央企 + 政府各 1~2 家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行业白皮书 × 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852160" y="1920240"/>
            <a:ext cx="548640" cy="5486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97680" y="2651760"/>
            <a:ext cx="3657600" cy="3291840"/>
          </a:xfrm>
          <a:prstGeom prst="rect">
            <a:avLst/>
          </a:prstGeom>
          <a:solidFill>
            <a:srgbClr val="F5F7FB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743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扩张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2000" y="32461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5000万 ~ 8000万 RMB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72000" y="3931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ARR 目标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429768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30~50 家企业客户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行业解决方案 × 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进合规云招标目录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692640" y="1920240"/>
            <a:ext cx="548640" cy="5486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38160" y="2651760"/>
            <a:ext cx="3657600" cy="3291840"/>
          </a:xfrm>
          <a:prstGeom prst="rect">
            <a:avLst/>
          </a:prstGeom>
          <a:solidFill>
            <a:srgbClr val="F5F7FB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2743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规模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412480" y="32461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2~3 亿 RMB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412480" y="3931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ARR 目标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0" y="429768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200+ 企业客户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行业 Top 3 品牌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SaaS 漏斗版本上线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2194560"/>
            <a:ext cx="1124712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知源 · ZHIYUAN · 投资人路演 v1.1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 /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10972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 · 风险与对策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识别关键风险 · 每一项都有可执行对策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303520" cy="914400"/>
          </a:xfrm>
          <a:prstGeom prst="rect">
            <a:avLst/>
          </a:prstGeom>
          <a:solidFill>
            <a:srgbClr val="0F1B3C"/>
          </a:solidFill>
          <a:ln w="12700">
            <a:solidFill>
              <a:srgbClr val="0F1B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1828800"/>
            <a:ext cx="5760720" cy="914400"/>
          </a:xfrm>
          <a:prstGeom prst="rect">
            <a:avLst/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⚠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201168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国产大模型能力参差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35040" y="2057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0" y="196596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 层抽象化，五路可切；业务不绑定单一模型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solidFill>
            <a:srgbClr val="0F1B3C"/>
          </a:solidFill>
          <a:ln w="12700">
            <a:solidFill>
              <a:srgbClr val="0F1B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2926080"/>
            <a:ext cx="5760720" cy="914400"/>
          </a:xfrm>
          <a:prstGeom prst="rect">
            <a:avLst/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⚠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88720" y="31089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大厂下场（飞书 / 钉钉 AI）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035040" y="3154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0" y="306324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私有化 + 国产化 + 图谱 + MCP 四重壁垒；行业深度非大厂强项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5303520" cy="914400"/>
          </a:xfrm>
          <a:prstGeom prst="rect">
            <a:avLst/>
          </a:prstGeom>
          <a:solidFill>
            <a:srgbClr val="0F1B3C"/>
          </a:solidFill>
          <a:ln w="12700">
            <a:solidFill>
              <a:srgbClr val="0F1B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0" y="4023360"/>
            <a:ext cx="5760720" cy="914400"/>
          </a:xfrm>
          <a:prstGeom prst="rect">
            <a:avLst/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⚠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88720" y="42062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客户决策周期长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35040" y="4251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00800" y="416052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 开发者漏斗 + 集成商渠道 + 标杆口碑，三路并进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5120640"/>
            <a:ext cx="5303520" cy="914400"/>
          </a:xfrm>
          <a:prstGeom prst="rect">
            <a:avLst/>
          </a:prstGeom>
          <a:solidFill>
            <a:srgbClr val="0F1B3C"/>
          </a:solidFill>
          <a:ln w="12700">
            <a:solidFill>
              <a:srgbClr val="0F1B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5120640"/>
            <a:ext cx="5760720" cy="914400"/>
          </a:xfrm>
          <a:prstGeom prst="rect">
            <a:avLst/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⚠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188720" y="53035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技术人才稀缺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035040" y="53492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400800" y="52578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四阶段 AI 协作工作流 + ADR / Spec 三件套，弱化对单一工程师依赖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知源 · ZHIYUAN · 投资人路演 v1.1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 /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C9A227">
              <a:alpha val="12000"/>
            </a:srgbClr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-1828800"/>
            <a:ext cx="4572000" cy="4572000"/>
          </a:xfrm>
          <a:prstGeom prst="ellipse">
            <a:avLst/>
          </a:prstGeom>
          <a:solidFill>
            <a:srgbClr val="CADCFC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459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让员工少找 80% 的文件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把时间花在真正要做的事上。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下一步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4480560"/>
            <a:ext cx="3474720" cy="1463040"/>
          </a:xfrm>
          <a:prstGeom prst="rect">
            <a:avLst/>
          </a:prstGeom>
          <a:solidFill>
            <a:srgbClr val="1E2761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617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 分钟产品 Demo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51206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真实私有化部署演示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4480560"/>
            <a:ext cx="3474720" cy="1463040"/>
          </a:xfrm>
          <a:prstGeom prst="rect">
            <a:avLst/>
          </a:prstGeom>
          <a:solidFill>
            <a:srgbClr val="1E2761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4617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首批试点计划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51206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定制接入 + 专属 SA 支持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4480560"/>
            <a:ext cx="3474720" cy="1463040"/>
          </a:xfrm>
          <a:prstGeom prst="rect">
            <a:avLst/>
          </a:prstGeom>
          <a:solidFill>
            <a:srgbClr val="1E2761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4617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技术深度资料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0" y="51206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ADR 全集 + 性能测试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知源 · ZHIYUAN · 联系我们：hello@zhiyuan.ai ·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知源 · 企业知识大脑 · 投资人路演</dc:title>
  <dc:subject>PptxGenJS Presentation</dc:subject>
  <dc:creator>ZhiYuan</dc:creator>
  <cp:lastModifiedBy>ZhiYuan</cp:lastModifiedBy>
  <cp:revision>1</cp:revision>
  <dcterms:created xsi:type="dcterms:W3CDTF">2026-04-23T12:37:29Z</dcterms:created>
  <dcterms:modified xsi:type="dcterms:W3CDTF">2026-04-23T12:37:29Z</dcterms:modified>
</cp:coreProperties>
</file>